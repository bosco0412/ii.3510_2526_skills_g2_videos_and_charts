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Syne ExtraBold"/>
      <p:bold r:id="rId23"/>
    </p:embeddedFont>
    <p:embeddedFont>
      <p:font typeface="Albert Sans"/>
      <p:regular r:id="rId24"/>
      <p:bold r:id="rId25"/>
      <p:italic r:id="rId26"/>
      <p:boldItalic r:id="rId27"/>
    </p:embeddedFont>
    <p:embeddedFont>
      <p:font typeface="Viaoda Libr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AlbertSans-regular.fntdata"/><Relationship Id="rId23" Type="http://schemas.openxmlformats.org/officeDocument/2006/relationships/font" Target="fonts/Syne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italic.fntdata"/><Relationship Id="rId25" Type="http://schemas.openxmlformats.org/officeDocument/2006/relationships/font" Target="fonts/AlbertSans-bold.fntdata"/><Relationship Id="rId28" Type="http://schemas.openxmlformats.org/officeDocument/2006/relationships/font" Target="fonts/ViaodaLibre-regular.fntdata"/><Relationship Id="rId27" Type="http://schemas.openxmlformats.org/officeDocument/2006/relationships/font" Target="fonts/Alber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Ralew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ff4209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ff4209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21486c3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21486c3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9f4f909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19f4f909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9f4f909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19f4f909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9f4f909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9f4f909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9f4f909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19f4f909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19f4f909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19f4f909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9f4f909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19f4f909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19f4f909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19f4f909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9f4f909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9f4f909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19f4f909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19f4f909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19f4f909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19f4f909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19f4f909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19f4f909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19f4f909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19f4f909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 flipH="1" rot="130">
            <a:off x="457525" y="368058"/>
            <a:ext cx="7931100" cy="2430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pic>
        <p:nvPicPr>
          <p:cNvPr id="11" name="Google Shape;11;p2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>
            <a:off x="3834475" y="1266252"/>
            <a:ext cx="6626048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 flipH="1">
            <a:off x="2478600" y="1790900"/>
            <a:ext cx="6208200" cy="291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57200" y="440450"/>
            <a:ext cx="1295100" cy="763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0" i="1"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15" name="Google Shape;15;p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8601403">
            <a:off x="2378586" y="-4229028"/>
            <a:ext cx="8776077" cy="765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221475"/>
            <a:ext cx="8233800" cy="13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arker Grotesque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2026950" y="3196950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026950" y="1359575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026950" y="3546450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2026950" y="170907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5" name="Google Shape;25;p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2199912">
            <a:off x="-3751676" y="-381272"/>
            <a:ext cx="6626045" cy="5777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5810095">
            <a:off x="-1681503" y="-1718043"/>
            <a:ext cx="4467740" cy="389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053700" y="1704950"/>
            <a:ext cx="4512900" cy="28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>
            <p:ph idx="2" type="pic"/>
          </p:nvPr>
        </p:nvSpPr>
        <p:spPr>
          <a:xfrm>
            <a:off x="0" y="2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468950" y="370700"/>
            <a:ext cx="2841900" cy="7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hasCustomPrompt="1" type="title"/>
          </p:nvPr>
        </p:nvSpPr>
        <p:spPr>
          <a:xfrm>
            <a:off x="2576538" y="1292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idx="1" type="subTitle"/>
          </p:nvPr>
        </p:nvSpPr>
        <p:spPr>
          <a:xfrm>
            <a:off x="3214064" y="1288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hasCustomPrompt="1" idx="2" type="title"/>
          </p:nvPr>
        </p:nvSpPr>
        <p:spPr>
          <a:xfrm>
            <a:off x="2576538" y="2187738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3" type="subTitle"/>
          </p:nvPr>
        </p:nvSpPr>
        <p:spPr>
          <a:xfrm>
            <a:off x="3214064" y="215267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4" type="title"/>
          </p:nvPr>
        </p:nvSpPr>
        <p:spPr>
          <a:xfrm>
            <a:off x="2576538" y="3082675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5" type="subTitle"/>
          </p:nvPr>
        </p:nvSpPr>
        <p:spPr>
          <a:xfrm>
            <a:off x="3214064" y="3077888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6" type="title"/>
          </p:nvPr>
        </p:nvSpPr>
        <p:spPr>
          <a:xfrm>
            <a:off x="2576538" y="3937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7" type="subTitle"/>
          </p:nvPr>
        </p:nvSpPr>
        <p:spPr>
          <a:xfrm>
            <a:off x="3214064" y="3933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5" name="Google Shape;55;p1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10523439">
            <a:off x="6530752" y="569101"/>
            <a:ext cx="6626046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925650" y="1248050"/>
            <a:ext cx="7292700" cy="18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3445725"/>
            <a:ext cx="8113800" cy="12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9" name="Google Shape;59;p14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2081560">
            <a:off x="3620825" y="2570478"/>
            <a:ext cx="6626048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845200" y="1199375"/>
            <a:ext cx="4620300" cy="21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63" name="Google Shape;63;p1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3072118">
            <a:off x="-2614977" y="-1976735"/>
            <a:ext cx="4433905" cy="386622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>
            <p:ph idx="2" type="pic"/>
          </p:nvPr>
        </p:nvSpPr>
        <p:spPr>
          <a:xfrm>
            <a:off x="5782800" y="1249550"/>
            <a:ext cx="3361200" cy="389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8424634">
            <a:off x="172170" y="-2061694"/>
            <a:ext cx="4599704" cy="40107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050186">
            <a:off x="7011650" y="-2139285"/>
            <a:ext cx="6626046" cy="57777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2535450" y="16237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2535450" y="2833200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3" type="subTitle"/>
          </p:nvPr>
        </p:nvSpPr>
        <p:spPr>
          <a:xfrm>
            <a:off x="2535450" y="40445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4" type="subTitle"/>
          </p:nvPr>
        </p:nvSpPr>
        <p:spPr>
          <a:xfrm>
            <a:off x="2535450" y="13027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5" type="subTitle"/>
          </p:nvPr>
        </p:nvSpPr>
        <p:spPr>
          <a:xfrm>
            <a:off x="2535450" y="37235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6" type="subTitle"/>
          </p:nvPr>
        </p:nvSpPr>
        <p:spPr>
          <a:xfrm>
            <a:off x="2535450" y="25131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48615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9" name="Google Shape;79;p18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361546">
            <a:off x="5069624" y="2708649"/>
            <a:ext cx="6626049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1388993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subTitle"/>
          </p:nvPr>
        </p:nvSpPr>
        <p:spPr>
          <a:xfrm>
            <a:off x="4982696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3" type="subTitle"/>
          </p:nvPr>
        </p:nvSpPr>
        <p:spPr>
          <a:xfrm>
            <a:off x="1388993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4" type="subTitle"/>
          </p:nvPr>
        </p:nvSpPr>
        <p:spPr>
          <a:xfrm>
            <a:off x="4982696" y="400682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5" type="subTitle"/>
          </p:nvPr>
        </p:nvSpPr>
        <p:spPr>
          <a:xfrm>
            <a:off x="1388990" y="400687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6" type="subTitle"/>
          </p:nvPr>
        </p:nvSpPr>
        <p:spPr>
          <a:xfrm>
            <a:off x="4982698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7" type="subTitle"/>
          </p:nvPr>
        </p:nvSpPr>
        <p:spPr>
          <a:xfrm>
            <a:off x="13889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8" type="subTitle"/>
          </p:nvPr>
        </p:nvSpPr>
        <p:spPr>
          <a:xfrm>
            <a:off x="49826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9" type="subTitle"/>
          </p:nvPr>
        </p:nvSpPr>
        <p:spPr>
          <a:xfrm>
            <a:off x="1388988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3" type="subTitle"/>
          </p:nvPr>
        </p:nvSpPr>
        <p:spPr>
          <a:xfrm>
            <a:off x="1388998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4" type="subTitle"/>
          </p:nvPr>
        </p:nvSpPr>
        <p:spPr>
          <a:xfrm>
            <a:off x="4982705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5" type="subTitle"/>
          </p:nvPr>
        </p:nvSpPr>
        <p:spPr>
          <a:xfrm>
            <a:off x="4982702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4" name="Google Shape;94;p19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0217320">
            <a:off x="5733322" y="-2469272"/>
            <a:ext cx="6626053" cy="57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hasCustomPrompt="1" type="title"/>
          </p:nvPr>
        </p:nvSpPr>
        <p:spPr>
          <a:xfrm flipH="1">
            <a:off x="457200" y="535613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 flipH="1">
            <a:off x="457200" y="11431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hasCustomPrompt="1" idx="2" type="title"/>
          </p:nvPr>
        </p:nvSpPr>
        <p:spPr>
          <a:xfrm>
            <a:off x="5268600" y="3691238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" name="Google Shape;99;p20"/>
          <p:cNvSpPr txBox="1"/>
          <p:nvPr>
            <p:ph idx="3" type="subTitle"/>
          </p:nvPr>
        </p:nvSpPr>
        <p:spPr>
          <a:xfrm>
            <a:off x="5268600" y="42985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20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375060">
            <a:off x="-2000797" y="1668352"/>
            <a:ext cx="6626044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243050" y="456638"/>
            <a:ext cx="5443500" cy="10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4641006" y="1310655"/>
            <a:ext cx="40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/>
        </p:nvSpPr>
        <p:spPr>
          <a:xfrm>
            <a:off x="457200" y="3847013"/>
            <a:ext cx="57573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KbZxiZyN3I0DGqN-UGCIqASvbGSR88i4/view" TargetMode="External"/><Relationship Id="rId4" Type="http://schemas.openxmlformats.org/officeDocument/2006/relationships/image" Target="../media/image9.jpg"/><Relationship Id="rId5" Type="http://schemas.openxmlformats.org/officeDocument/2006/relationships/hyperlink" Target="http://drive.google.com/file/d/19ivZigc3--XExu5xahMdWkZ1BCSKciWo/view" TargetMode="External"/><Relationship Id="rId6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idx="1" type="subTitle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Baowen Ou &amp; Iiris Kivelä</a:t>
            </a:r>
            <a:endParaRPr/>
          </a:p>
        </p:txBody>
      </p:sp>
      <p:sp>
        <p:nvSpPr>
          <p:cNvPr id="112" name="Google Shape;112;p24"/>
          <p:cNvSpPr txBox="1"/>
          <p:nvPr>
            <p:ph type="ctrTitle"/>
          </p:nvPr>
        </p:nvSpPr>
        <p:spPr>
          <a:xfrm flipH="1" rot="116">
            <a:off x="256800" y="267818"/>
            <a:ext cx="8887200" cy="24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DISPLAYING VIDEOS</a:t>
            </a:r>
            <a:endParaRPr sz="7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200"/>
              <a:t>AND CHARTS</a:t>
            </a:r>
            <a:endParaRPr i="1" sz="7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845200" y="983825"/>
            <a:ext cx="48333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•Our Project: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An Android app for users to watch and share videos.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•Our Core Tasks: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•Implement a video section for both videos and user uploads.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•Create charts to show daily app usage and daily time distribution.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•Technical Goal: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/>
              <a:t>Build a scalable and maintainable </a:t>
            </a:r>
            <a:r>
              <a:rPr lang="en" sz="1600"/>
              <a:t>UI framework using Jetpack Compose and modern Android best practices.</a:t>
            </a:r>
            <a:endParaRPr sz="1600"/>
          </a:p>
        </p:txBody>
      </p:sp>
      <p:sp>
        <p:nvSpPr>
          <p:cNvPr id="118" name="Google Shape;118;p25"/>
          <p:cNvSpPr txBox="1"/>
          <p:nvPr>
            <p:ph type="title"/>
          </p:nvPr>
        </p:nvSpPr>
        <p:spPr>
          <a:xfrm>
            <a:off x="515100" y="412900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 i="1"/>
          </a:p>
        </p:txBody>
      </p:sp>
      <p:pic>
        <p:nvPicPr>
          <p:cNvPr id="119" name="Google Shape;119;p25" title="Minimal Gradient by Slidesgo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910" l="20913" r="40200" t="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idx="1" type="subTitle"/>
          </p:nvPr>
        </p:nvSpPr>
        <p:spPr>
          <a:xfrm>
            <a:off x="801574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100% Kotlin </a:t>
            </a:r>
            <a:r>
              <a:rPr lang="en"/>
              <a:t>with Jetpack Compose for a declarative and modern user interface.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>
            <p:ph idx="2" type="subTitle"/>
          </p:nvPr>
        </p:nvSpPr>
        <p:spPr>
          <a:xfrm>
            <a:off x="4395277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H</a:t>
            </a:r>
            <a:r>
              <a:rPr lang="en"/>
              <a:t>ilt for managing dependencies and simplifying the architecture.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6" name="Google Shape;126;p26"/>
          <p:cNvSpPr txBox="1"/>
          <p:nvPr>
            <p:ph idx="3" type="subTitle"/>
          </p:nvPr>
        </p:nvSpPr>
        <p:spPr>
          <a:xfrm>
            <a:off x="801582" y="2873934"/>
            <a:ext cx="31719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MVVM </a:t>
            </a:r>
            <a:r>
              <a:rPr lang="en"/>
              <a:t>(Model-View-ViewModel) pattern.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7" name="Google Shape;127;p26"/>
          <p:cNvSpPr txBox="1"/>
          <p:nvPr>
            <p:ph idx="5" type="subTitle"/>
          </p:nvPr>
        </p:nvSpPr>
        <p:spPr>
          <a:xfrm>
            <a:off x="801571" y="400687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Je</a:t>
            </a:r>
            <a:r>
              <a:rPr lang="en"/>
              <a:t>tpack Navigation for Compose to handle all screen transitions.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" name="Google Shape;128;p26"/>
          <p:cNvSpPr txBox="1"/>
          <p:nvPr>
            <p:ph idx="6" type="subTitle"/>
          </p:nvPr>
        </p:nvSpPr>
        <p:spPr>
          <a:xfrm>
            <a:off x="4395279" y="2873940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K</a:t>
            </a:r>
            <a:r>
              <a:rPr lang="en"/>
              <a:t>otlin Coroutines &amp; Flow for managing background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p26"/>
          <p:cNvSpPr txBox="1"/>
          <p:nvPr>
            <p:ph idx="7" type="subTitle"/>
          </p:nvPr>
        </p:nvSpPr>
        <p:spPr>
          <a:xfrm>
            <a:off x="801579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</a:t>
            </a:r>
            <a:endParaRPr/>
          </a:p>
        </p:txBody>
      </p:sp>
      <p:sp>
        <p:nvSpPr>
          <p:cNvPr id="130" name="Google Shape;130;p26"/>
          <p:cNvSpPr txBox="1"/>
          <p:nvPr>
            <p:ph idx="8" type="subTitle"/>
          </p:nvPr>
        </p:nvSpPr>
        <p:spPr>
          <a:xfrm>
            <a:off x="4395282" y="1345450"/>
            <a:ext cx="3787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INJECTION</a:t>
            </a:r>
            <a:endParaRPr/>
          </a:p>
        </p:txBody>
      </p:sp>
      <p:sp>
        <p:nvSpPr>
          <p:cNvPr id="131" name="Google Shape;131;p26"/>
          <p:cNvSpPr txBox="1"/>
          <p:nvPr>
            <p:ph idx="9" type="subTitle"/>
          </p:nvPr>
        </p:nvSpPr>
        <p:spPr>
          <a:xfrm>
            <a:off x="801585" y="3725850"/>
            <a:ext cx="37878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</a:t>
            </a:r>
            <a:endParaRPr/>
          </a:p>
        </p:txBody>
      </p:sp>
      <p:sp>
        <p:nvSpPr>
          <p:cNvPr id="132" name="Google Shape;132;p26"/>
          <p:cNvSpPr txBox="1"/>
          <p:nvPr>
            <p:ph idx="13" type="subTitle"/>
          </p:nvPr>
        </p:nvSpPr>
        <p:spPr>
          <a:xfrm>
            <a:off x="801579" y="2592964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33" name="Google Shape;133;p26"/>
          <p:cNvSpPr txBox="1"/>
          <p:nvPr>
            <p:ph idx="15" type="subTitle"/>
          </p:nvPr>
        </p:nvSpPr>
        <p:spPr>
          <a:xfrm>
            <a:off x="4395279" y="2592959"/>
            <a:ext cx="49797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OPERATIONS</a:t>
            </a:r>
            <a:endParaRPr/>
          </a:p>
        </p:txBody>
      </p:sp>
      <p:sp>
        <p:nvSpPr>
          <p:cNvPr id="134" name="Google Shape;134;p26"/>
          <p:cNvSpPr txBox="1"/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TECHNOLOGY STACK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idx="1" type="subTitle"/>
          </p:nvPr>
        </p:nvSpPr>
        <p:spPr>
          <a:xfrm>
            <a:off x="142523" y="1626475"/>
            <a:ext cx="4275000" cy="12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The first point of entry for any user. A clean and simple interface to create a new account or log in securely. This ensures each user has their own private space for tracking progress and uploads.</a:t>
            </a:r>
            <a:endParaRPr/>
          </a:p>
        </p:txBody>
      </p:sp>
      <p:sp>
        <p:nvSpPr>
          <p:cNvPr id="140" name="Google Shape;140;p27"/>
          <p:cNvSpPr txBox="1"/>
          <p:nvPr>
            <p:ph idx="2" type="subTitle"/>
          </p:nvPr>
        </p:nvSpPr>
        <p:spPr>
          <a:xfrm>
            <a:off x="4767793" y="1626474"/>
            <a:ext cx="4392000" cy="12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This is the main screen after logging in, where browsing and watching videos. It features the official videos and the user's personal uploads.</a:t>
            </a:r>
            <a:endParaRPr/>
          </a:p>
        </p:txBody>
      </p:sp>
      <p:sp>
        <p:nvSpPr>
          <p:cNvPr id="141" name="Google Shape;141;p27"/>
          <p:cNvSpPr txBox="1"/>
          <p:nvPr>
            <p:ph idx="3" type="subTitle"/>
          </p:nvPr>
        </p:nvSpPr>
        <p:spPr>
          <a:xfrm>
            <a:off x="142527" y="3389727"/>
            <a:ext cx="42750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 dedicated space for the user. This is where they can view their account details and log out of the application.</a:t>
            </a:r>
            <a:endParaRPr/>
          </a:p>
        </p:txBody>
      </p:sp>
      <p:sp>
        <p:nvSpPr>
          <p:cNvPr id="142" name="Google Shape;142;p27"/>
          <p:cNvSpPr txBox="1"/>
          <p:nvPr>
            <p:ph idx="6" type="subTitle"/>
          </p:nvPr>
        </p:nvSpPr>
        <p:spPr>
          <a:xfrm>
            <a:off x="4767792" y="3389728"/>
            <a:ext cx="4607100" cy="14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This screen provides a visual summary of the user's activity. It features a bar chart and a pie chart.</a:t>
            </a:r>
            <a:endParaRPr/>
          </a:p>
        </p:txBody>
      </p:sp>
      <p:sp>
        <p:nvSpPr>
          <p:cNvPr id="143" name="Google Shape;143;p27"/>
          <p:cNvSpPr txBox="1"/>
          <p:nvPr>
            <p:ph idx="7" type="subTitle"/>
          </p:nvPr>
        </p:nvSpPr>
        <p:spPr>
          <a:xfrm>
            <a:off x="142526" y="1345450"/>
            <a:ext cx="4690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UP / LOG IN</a:t>
            </a:r>
            <a:endParaRPr/>
          </a:p>
        </p:txBody>
      </p:sp>
      <p:sp>
        <p:nvSpPr>
          <p:cNvPr id="144" name="Google Shape;144;p27"/>
          <p:cNvSpPr txBox="1"/>
          <p:nvPr>
            <p:ph idx="8" type="subTitle"/>
          </p:nvPr>
        </p:nvSpPr>
        <p:spPr>
          <a:xfrm>
            <a:off x="476778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HUB</a:t>
            </a:r>
            <a:endParaRPr/>
          </a:p>
        </p:txBody>
      </p:sp>
      <p:sp>
        <p:nvSpPr>
          <p:cNvPr id="145" name="Google Shape;145;p27"/>
          <p:cNvSpPr txBox="1"/>
          <p:nvPr>
            <p:ph idx="13" type="subTitle"/>
          </p:nvPr>
        </p:nvSpPr>
        <p:spPr>
          <a:xfrm>
            <a:off x="142523" y="31087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 SCREEN</a:t>
            </a:r>
            <a:endParaRPr/>
          </a:p>
        </p:txBody>
      </p:sp>
      <p:sp>
        <p:nvSpPr>
          <p:cNvPr id="146" name="Google Shape;146;p27"/>
          <p:cNvSpPr txBox="1"/>
          <p:nvPr>
            <p:ph idx="15" type="subTitle"/>
          </p:nvPr>
        </p:nvSpPr>
        <p:spPr>
          <a:xfrm>
            <a:off x="4767793" y="31087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CHARTS PAGE</a:t>
            </a:r>
            <a:endParaRPr/>
          </a:p>
        </p:txBody>
      </p:sp>
      <p:sp>
        <p:nvSpPr>
          <p:cNvPr id="147" name="Google Shape;147;p27"/>
          <p:cNvSpPr txBox="1"/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WALKTHROUGH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2026950" y="3196950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2.</a:t>
            </a:r>
            <a:endParaRPr/>
          </a:p>
        </p:txBody>
      </p:sp>
      <p:sp>
        <p:nvSpPr>
          <p:cNvPr id="153" name="Google Shape;153;p28"/>
          <p:cNvSpPr txBox="1"/>
          <p:nvPr>
            <p:ph idx="2" type="subTitle"/>
          </p:nvPr>
        </p:nvSpPr>
        <p:spPr>
          <a:xfrm>
            <a:off x="2026950" y="1531500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1.</a:t>
            </a:r>
            <a:endParaRPr/>
          </a:p>
        </p:txBody>
      </p:sp>
      <p:sp>
        <p:nvSpPr>
          <p:cNvPr id="154" name="Google Shape;154;p28"/>
          <p:cNvSpPr txBox="1"/>
          <p:nvPr>
            <p:ph idx="3" type="subTitle"/>
          </p:nvPr>
        </p:nvSpPr>
        <p:spPr>
          <a:xfrm>
            <a:off x="2026950" y="3546450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Charts</a:t>
            </a:r>
            <a:r>
              <a:rPr lang="en"/>
              <a:t>: Visualize user engagement and usage status through dynamic charts.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idx="4" type="subTitle"/>
          </p:nvPr>
        </p:nvSpPr>
        <p:spPr>
          <a:xfrm>
            <a:off x="2026950" y="1881000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Video Display: Enable users to watch both pre-loaded videos and upload their own content.</a:t>
            </a:r>
            <a:endParaRPr/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FEATURES</a:t>
            </a:r>
            <a:endParaRPr i="1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1.</a:t>
            </a:r>
            <a:endParaRPr i="1"/>
          </a:p>
        </p:txBody>
      </p:sp>
      <p:pic>
        <p:nvPicPr>
          <p:cNvPr id="162" name="Google Shape;162;p29" title="Minimal Gradient by Slidesgo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910" l="20913" r="40200" t="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845200" y="897861"/>
            <a:ext cx="48333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•Core Component: 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CustomVideoPlayer composable built using the ExoPlayer library.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•Functionality: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•Handles playback for both remote video URLs and local device URIs (user uploads).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•The video player supports both standard playback and full-screen viewing.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•Manages player lifecycle automatically, tied to the Composable's lifecycle to prevent memory leaks.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•Displayed in a LazyColumn to efficiently handle a potentially long list of videos.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>
            <a:off x="2104605" y="79502"/>
            <a:ext cx="87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01</a:t>
            </a:r>
            <a:endParaRPr i="1" sz="33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4154898" y="79502"/>
            <a:ext cx="87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02</a:t>
            </a:r>
            <a:endParaRPr i="1" sz="33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70" name="Google Shape;170;p30"/>
          <p:cNvSpPr txBox="1"/>
          <p:nvPr/>
        </p:nvSpPr>
        <p:spPr>
          <a:xfrm>
            <a:off x="1667075" y="4071722"/>
            <a:ext cx="1750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Main screen with videos and user-uploaded videos.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3717348" y="4278442"/>
            <a:ext cx="1750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 to select a video to upload.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6205155" y="79502"/>
            <a:ext cx="87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03</a:t>
            </a:r>
            <a:endParaRPr i="1" sz="33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5882225" y="4100401"/>
            <a:ext cx="17508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Screen showing the newly uploaded videos added to the list.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74" name="Google Shape;1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3359" y="688800"/>
            <a:ext cx="1550425" cy="338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7162" y="692650"/>
            <a:ext cx="1550425" cy="3328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8000" y="692468"/>
            <a:ext cx="1550425" cy="3374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2.</a:t>
            </a:r>
            <a:endParaRPr i="1"/>
          </a:p>
        </p:txBody>
      </p:sp>
      <p:pic>
        <p:nvPicPr>
          <p:cNvPr id="182" name="Google Shape;182;p31" title="Minimal Gradient by Slidesgo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910" l="20913" r="40200" t="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845200" y="983825"/>
            <a:ext cx="48333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•Core Component: 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Interactive progress visualization powered by dynamic chart displays.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•Functionality: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</a:t>
            </a:r>
            <a:r>
              <a:rPr lang="en" sz="1500"/>
              <a:t>Visualizes user’s usage status using a bar chart for daily activity and a pie chart for usage distribution.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</a:t>
            </a:r>
            <a:r>
              <a:rPr lang="en" sz="1500"/>
              <a:t>Data is continuously supplied and updated by the ViewModel, ensuring the charts remain accurate and responsive.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</a:t>
            </a:r>
            <a:r>
              <a:rPr lang="en" sz="1500"/>
              <a:t>The chart is seamlessly integrated into the Compose interface using AndroidView.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/>
          <p:nvPr/>
        </p:nvSpPr>
        <p:spPr>
          <a:xfrm>
            <a:off x="3121843" y="79502"/>
            <a:ext cx="87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01</a:t>
            </a:r>
            <a:endParaRPr i="1" sz="33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5172136" y="79502"/>
            <a:ext cx="8757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3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02</a:t>
            </a:r>
            <a:endParaRPr i="1" sz="33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205000" y="688775"/>
            <a:ext cx="1933200" cy="4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Daily Usage Overview Screen: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Progress Screen visualizes the user’s activity over the past week.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bar chart highlights how many minutes were spent each day, with the “Today” bar updating in real-time as the user continues using.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215" y="688800"/>
            <a:ext cx="1977865" cy="423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4507" y="688800"/>
            <a:ext cx="1933258" cy="423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 txBox="1"/>
          <p:nvPr/>
        </p:nvSpPr>
        <p:spPr>
          <a:xfrm>
            <a:off x="7033900" y="688762"/>
            <a:ext cx="1933200" cy="4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Usage Distribution Screen: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pie chart shows how the user's usage time is distributed across different times of day (morning, afternoon, evening, night).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This helps users recognize when they are most active and understand their using habits.</a:t>
            </a:r>
            <a:endParaRPr>
              <a:solidFill>
                <a:srgbClr val="434343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OF THE FEATURES</a:t>
            </a:r>
            <a:endParaRPr i="1"/>
          </a:p>
        </p:txBody>
      </p:sp>
      <p:pic>
        <p:nvPicPr>
          <p:cNvPr id="199" name="Google Shape;199;p33" title="Nimetön mall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675" y="942991"/>
            <a:ext cx="2239693" cy="398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3" title="Nimetön malli1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8014" y="943000"/>
            <a:ext cx="2239693" cy="398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PAGES</a:t>
            </a:r>
            <a:endParaRPr i="1"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7400" y="894800"/>
            <a:ext cx="1838108" cy="398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083" y="894804"/>
            <a:ext cx="1838518" cy="398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976" y="857022"/>
            <a:ext cx="1836054" cy="3981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993350" y="4794859"/>
            <a:ext cx="74073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   Sign in Screen                           Registration Screen		         	Profile Screen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AND DATA FLOW</a:t>
            </a:r>
            <a:endParaRPr i="1"/>
          </a:p>
        </p:txBody>
      </p:sp>
      <p:pic>
        <p:nvPicPr>
          <p:cNvPr id="215" name="Google Shape;215;p35" title="Minimal Gradient by Slidesgo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910" l="20913" r="40200" t="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415375" y="857025"/>
            <a:ext cx="48333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a modern </a:t>
            </a:r>
            <a:r>
              <a:rPr b="1" lang="en"/>
              <a:t>MVVM</a:t>
            </a:r>
            <a:r>
              <a:rPr lang="en"/>
              <a:t> architecture for clear separation of responsibilities.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app uses a clear, one-directional flow of data:</a:t>
            </a:r>
            <a:br>
              <a:rPr lang="en"/>
            </a:br>
            <a:r>
              <a:rPr lang="en"/>
              <a:t> </a:t>
            </a:r>
            <a:r>
              <a:rPr b="1" lang="en"/>
              <a:t>UI → ViewModel → State → UI</a:t>
            </a:r>
            <a:br>
              <a:rPr b="1" lang="en"/>
            </a:b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</a:t>
            </a:r>
            <a:r>
              <a:rPr b="1" lang="en"/>
              <a:t>UI</a:t>
            </a:r>
            <a:r>
              <a:rPr lang="en"/>
              <a:t> sends user actions.</a:t>
            </a:r>
            <a:br>
              <a:rPr lang="en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</a:t>
            </a:r>
            <a:r>
              <a:rPr b="1" lang="en"/>
              <a:t>ViewModel</a:t>
            </a:r>
            <a:r>
              <a:rPr lang="en"/>
              <a:t> updates the </a:t>
            </a:r>
            <a:r>
              <a:rPr b="1" lang="en"/>
              <a:t>state</a:t>
            </a:r>
            <a:r>
              <a:rPr lang="en"/>
              <a:t> based on those actions.</a:t>
            </a:r>
            <a:br>
              <a:rPr lang="en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</a:t>
            </a:r>
            <a:r>
              <a:rPr b="1" lang="en"/>
              <a:t>UI</a:t>
            </a:r>
            <a:r>
              <a:rPr lang="en"/>
              <a:t> automatically updates when the state changes.</a:t>
            </a:r>
            <a:br>
              <a:rPr lang="en"/>
            </a:b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Result:</a:t>
            </a:r>
            <a:br>
              <a:rPr b="1" lang="en"/>
            </a:br>
            <a:r>
              <a:rPr lang="en"/>
              <a:t>A predictable, stable, and easy-to-maintain application where the UI always reflects the current state.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DIFFICULTIES &amp; FUTURE WORK</a:t>
            </a:r>
            <a:endParaRPr i="1"/>
          </a:p>
        </p:txBody>
      </p:sp>
      <p:pic>
        <p:nvPicPr>
          <p:cNvPr id="222" name="Google Shape;222;p36" title="Minimal Gradient by Slidesgo (2)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9910" l="20913" r="40200" t="0"/>
          <a:stretch/>
        </p:blipFill>
        <p:spPr>
          <a:xfrm>
            <a:off x="5782800" y="1249550"/>
            <a:ext cx="3361200" cy="3893999"/>
          </a:xfrm>
          <a:prstGeom prst="rect">
            <a:avLst/>
          </a:prstGeom>
        </p:spPr>
      </p:pic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859550" y="1249550"/>
            <a:ext cx="5306100" cy="3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Difficulties Encountered: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•Build Errors: Getting all the different tools (like Hilt and KSP) to work together was tricky and caused many errors that we had to fix one by one.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Future Work: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•Improve User Accounts: Add more detail to the profile screen.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•More Charts: Add new types of charts to track different learning metrics.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/>
              <a:t>•Search and Filter -feature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7" title="grad.png"/>
          <p:cNvPicPr preferRelativeResize="0"/>
          <p:nvPr/>
        </p:nvPicPr>
        <p:blipFill rotWithShape="1">
          <a:blip r:embed="rId3">
            <a:alphaModFix amt="64000"/>
          </a:blip>
          <a:srcRect b="8155" l="11022" r="13738" t="0"/>
          <a:stretch/>
        </p:blipFill>
        <p:spPr>
          <a:xfrm rot="-8864924">
            <a:off x="666153" y="-2052448"/>
            <a:ext cx="6626045" cy="57777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7"/>
          <p:cNvSpPr txBox="1"/>
          <p:nvPr>
            <p:ph type="title"/>
          </p:nvPr>
        </p:nvSpPr>
        <p:spPr>
          <a:xfrm>
            <a:off x="1205400" y="1781575"/>
            <a:ext cx="6733200" cy="10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30" name="Google Shape;230;p37"/>
          <p:cNvSpPr txBox="1"/>
          <p:nvPr>
            <p:ph idx="1" type="subTitle"/>
          </p:nvPr>
        </p:nvSpPr>
        <p:spPr>
          <a:xfrm>
            <a:off x="2549106" y="2700405"/>
            <a:ext cx="40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Q</a:t>
            </a:r>
            <a:r>
              <a:rPr lang="en" sz="2300">
                <a:solidFill>
                  <a:schemeClr val="dk1"/>
                </a:solidFill>
              </a:rPr>
              <a:t>uestions?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7"/>
          <p:cNvSpPr/>
          <p:nvPr/>
        </p:nvSpPr>
        <p:spPr>
          <a:xfrm>
            <a:off x="420275" y="3844500"/>
            <a:ext cx="5730900" cy="644700"/>
          </a:xfrm>
          <a:prstGeom prst="rect">
            <a:avLst/>
          </a:prstGeom>
          <a:solidFill>
            <a:srgbClr val="FFFBF8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